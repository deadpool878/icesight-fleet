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28600"/>
            <a:ext cx="501666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C9E0"/>
                </a:solidFill>
                <a:latin typeface="Consolas"/>
              </a:defRPr>
            </a:pPr>
            <a:r>
              <a:t>AI-Enabled Antarctic Navigation Decision Support · Fleet Edition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EAF3F8"/>
                </a:solidFill>
                <a:latin typeface="Calibri"/>
              </a:defRPr>
            </a:pPr>
            <a:r>
              <a:t>ICE·SIGHT FLEET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CA3B4"/>
                </a:solidFill>
                <a:latin typeface="Calibri"/>
              </a:defRPr>
            </a:pPr>
            <a:r>
              <a:t>Multi-iceberg, multi-ship navigation simulator with real-time collision prediction,</a:t>
            </a:r>
            <a:br/>
            <a:r>
              <a:t>live weather integration, and Monte Carlo uncertainty analysis.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114800"/>
            <a:ext cx="1920240" cy="320040"/>
          </a:xfrm>
          <a:prstGeom prst="roundRect">
            <a:avLst/>
          </a:prstGeom>
          <a:solidFill>
            <a:srgbClr val="122336"/>
          </a:solidFill>
          <a:ln w="6350">
            <a:solidFill>
              <a:srgbClr val="3C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8CA3B4"/>
                </a:solidFill>
                <a:latin typeface="Consolas"/>
              </a:defRPr>
            </a:pPr>
            <a:r>
              <a:t>300 Scenarios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0" y="4114800"/>
            <a:ext cx="1920240" cy="320040"/>
          </a:xfrm>
          <a:prstGeom prst="roundRect">
            <a:avLst/>
          </a:prstGeom>
          <a:solidFill>
            <a:srgbClr val="122336"/>
          </a:solidFill>
          <a:ln w="6350">
            <a:solidFill>
              <a:srgbClr val="3C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8CA3B4"/>
                </a:solidFill>
                <a:latin typeface="Consolas"/>
              </a:defRPr>
            </a:pPr>
            <a:r>
              <a:t>50 Monte Carlo Runs Each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4114800"/>
            <a:ext cx="1920240" cy="320040"/>
          </a:xfrm>
          <a:prstGeom prst="roundRect">
            <a:avLst/>
          </a:prstGeom>
          <a:solidFill>
            <a:srgbClr val="122336"/>
          </a:solidFill>
          <a:ln w="6350">
            <a:solidFill>
              <a:srgbClr val="3C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8CA3B4"/>
                </a:solidFill>
                <a:latin typeface="Consolas"/>
              </a:defRPr>
            </a:pPr>
            <a:r>
              <a:t>Real Weather 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59" y="4114800"/>
            <a:ext cx="1920240" cy="320040"/>
          </a:xfrm>
          <a:prstGeom prst="roundRect">
            <a:avLst/>
          </a:prstGeom>
          <a:solidFill>
            <a:srgbClr val="122336"/>
          </a:solidFill>
          <a:ln w="6350">
            <a:solidFill>
              <a:srgbClr val="3C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8CA3B4"/>
                </a:solidFill>
                <a:latin typeface="Consolas"/>
              </a:defRPr>
            </a:pPr>
            <a:r>
              <a:t>Collision Detection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4114800"/>
            <a:ext cx="1920240" cy="320040"/>
          </a:xfrm>
          <a:prstGeom prst="roundRect">
            <a:avLst/>
          </a:prstGeom>
          <a:solidFill>
            <a:srgbClr val="122336"/>
          </a:solidFill>
          <a:ln w="6350">
            <a:solidFill>
              <a:srgbClr val="3C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8CA3B4"/>
                </a:solidFill>
                <a:latin typeface="Consolas"/>
              </a:defRPr>
            </a:pPr>
            <a:r>
              <a:t>15,000 Drift Trajectories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28600"/>
            <a:ext cx="501666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822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C9E0"/>
                </a:solidFill>
                <a:latin typeface="Consolas"/>
              </a:defRPr>
            </a:pPr>
            <a: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AF3F8"/>
                </a:solidFill>
                <a:latin typeface="Calibri"/>
              </a:defRPr>
            </a:pPr>
            <a:r>
              <a:t>Navigating Iceberg-Infested Waters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029200" cy="4114800"/>
          </a:xfrm>
          <a:prstGeom prst="roundRect">
            <a:avLst/>
          </a:prstGeom>
          <a:solidFill>
            <a:srgbClr val="0D1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>
                <a:solidFill>
                  <a:srgbClr val="8CA3B4"/>
                </a:solidFill>
                <a:latin typeface="Calibri"/>
              </a:defRPr>
            </a:pPr>
            <a:r>
              <a:t>Antarctic and sub-Antarctic shipping lanes face growing iceberg</a:t>
            </a:r>
          </a:p>
          <a:p>
            <a:pPr>
              <a:spcAft>
                <a:spcPts val="520"/>
              </a:spcAft>
              <a:defRPr sz="1300">
                <a:solidFill>
                  <a:srgbClr val="8CA3B4"/>
                </a:solidFill>
                <a:latin typeface="Calibri"/>
              </a:defRPr>
            </a:pPr>
            <a:r>
              <a:t>incursion risk as climate patterns shift. Current decision support</a:t>
            </a:r>
          </a:p>
          <a:p>
            <a:pPr>
              <a:spcAft>
                <a:spcPts val="520"/>
              </a:spcAft>
              <a:defRPr sz="1300">
                <a:solidFill>
                  <a:srgbClr val="8CA3B4"/>
                </a:solidFill>
                <a:latin typeface="Calibri"/>
              </a:defRPr>
            </a:pPr>
            <a:r>
              <a:t>tools provide static risk maps — not dynamic, ship-specific forecasting.</a:t>
            </a:r>
          </a:p>
          <a:p>
            <a:pPr>
              <a:spcAft>
                <a:spcPts val="520"/>
              </a:spcAft>
              <a:defRPr sz="1300">
                <a:solidFill>
                  <a:srgbClr val="8CA3B4"/>
                </a:solidFill>
                <a:latin typeface="Calibri"/>
              </a:defRPr>
            </a:pPr>
          </a:p>
          <a:p>
            <a:pPr>
              <a:spcAft>
                <a:spcPts val="520"/>
              </a:spcAft>
              <a:defRPr sz="1300">
                <a:solidFill>
                  <a:srgbClr val="8CA3B4"/>
                </a:solidFill>
                <a:latin typeface="Calibri"/>
              </a:defRPr>
            </a:pPr>
            <a:r>
              <a:t>KEY RISK FACTORS:</a:t>
            </a:r>
          </a:p>
          <a:p>
            <a:pPr>
              <a:spcAft>
                <a:spcPts val="520"/>
              </a:spcAft>
              <a:defRPr sz="1300">
                <a:solidFill>
                  <a:srgbClr val="8CA3B4"/>
                </a:solidFill>
                <a:latin typeface="Calibri"/>
              </a:defRPr>
            </a:pPr>
            <a:r>
              <a:t>•  $2B+ in Antarctic shipping annually</a:t>
            </a:r>
          </a:p>
          <a:p>
            <a:pPr>
              <a:spcAft>
                <a:spcPts val="520"/>
              </a:spcAft>
              <a:defRPr sz="1300">
                <a:solidFill>
                  <a:srgbClr val="8CA3B4"/>
                </a:solidFill>
                <a:latin typeface="Calibri"/>
              </a:defRPr>
            </a:pPr>
            <a:r>
              <a:t>•  Iceberg incursions increasing 30% per decade</a:t>
            </a:r>
          </a:p>
          <a:p>
            <a:pPr>
              <a:spcAft>
                <a:spcPts val="520"/>
              </a:spcAft>
              <a:defRPr sz="1300">
                <a:solidFill>
                  <a:srgbClr val="8CA3B4"/>
                </a:solidFill>
                <a:latin typeface="Calibri"/>
              </a:defRPr>
            </a:pPr>
            <a:r>
              <a:t>•  72 hours is the critical decision window</a:t>
            </a:r>
          </a:p>
          <a:p>
            <a:pPr>
              <a:spcAft>
                <a:spcPts val="520"/>
              </a:spcAft>
              <a:defRPr sz="1300">
                <a:solidFill>
                  <a:srgbClr val="8CA3B4"/>
                </a:solidFill>
                <a:latin typeface="Calibri"/>
              </a:defRPr>
            </a:pPr>
            <a:r>
              <a:t>•  Current tools: manual, slow, not ship-specific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011680"/>
            <a:ext cx="5303520" cy="4114800"/>
          </a:xfrm>
          <a:prstGeom prst="roundRect">
            <a:avLst/>
          </a:prstGeom>
          <a:solidFill>
            <a:srgbClr val="0D1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22860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EC9E0"/>
                </a:solidFill>
                <a:latin typeface="Calibri"/>
              </a:defRPr>
            </a:pPr>
            <a:r>
              <a:t>8.8–25.3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788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A3B4"/>
                </a:solidFill>
                <a:latin typeface="Calibri"/>
              </a:defRPr>
            </a:pPr>
            <a:r>
              <a:t>km/day drift speed range across regimes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1089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6B4A"/>
                </a:solidFill>
                <a:latin typeface="Calibri"/>
              </a:defRPr>
            </a:pPr>
            <a:r>
              <a:t>56%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611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A3B4"/>
                </a:solidFill>
                <a:latin typeface="Calibri"/>
              </a:defRPr>
            </a:pPr>
            <a:r>
              <a:t>of scenarios classified as HIGH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9319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EC9E0"/>
                </a:solidFill>
                <a:latin typeface="Calibri"/>
              </a:defRPr>
            </a:pPr>
            <a:r>
              <a:t>3–14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434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A3B4"/>
                </a:solidFill>
                <a:latin typeface="Calibri"/>
              </a:defRPr>
            </a:pPr>
            <a:r>
              <a:t>day forecast horizon needed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7548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8B7FE8"/>
                </a:solidFill>
                <a:latin typeface="Calibri"/>
              </a:defRPr>
            </a:pPr>
            <a:r>
              <a:t>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5257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A3B4"/>
                </a:solidFill>
                <a:latin typeface="Calibri"/>
              </a:defRPr>
            </a:pPr>
            <a:r>
              <a:t>Monte Carlo runs per scenario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28600"/>
            <a:ext cx="501666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822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C9E0"/>
                </a:solidFill>
                <a:latin typeface="Consolas"/>
              </a:defRPr>
            </a:pPr>
            <a:r>
              <a:t>OUR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AF3F8"/>
                </a:solidFill>
                <a:latin typeface="Calibri"/>
              </a:defRPr>
            </a:pPr>
            <a:r>
              <a:t>Real-Time Fleet Simulation with AI Decision Support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474720" cy="4114800"/>
          </a:xfrm>
          <a:prstGeom prst="roundRect">
            <a:avLst/>
          </a:prstGeom>
          <a:solidFill>
            <a:srgbClr val="0D1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945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EC9E0"/>
                </a:solidFill>
                <a:latin typeface="Calibri"/>
              </a:defRPr>
            </a:pPr>
            <a:r>
              <a:t>Dynamic Drift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74320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200">
                <a:solidFill>
                  <a:srgbClr val="8CA3B4"/>
                </a:solidFill>
                <a:latin typeface="Calibri"/>
              </a:defRPr>
            </a:pPr>
            <a:r>
              <a:t>Monte Carlo ensemble of iceberg trajectories under three ocean regimes (calm, moderate, storm)</a:t>
            </a:r>
          </a:p>
          <a:p>
            <a:pPr>
              <a:spcAft>
                <a:spcPts val="480"/>
              </a:spcAft>
              <a:defRPr sz="1200">
                <a:solidFill>
                  <a:srgbClr val="8CA3B4"/>
                </a:solidFill>
                <a:latin typeface="Calibri"/>
              </a:defRPr>
            </a:pPr>
            <a:r>
              <a:t>Wind/current uncertainty parameters produce 50 plausible drift paths per scenario.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2011680"/>
            <a:ext cx="3474720" cy="4114800"/>
          </a:xfrm>
          <a:prstGeom prst="roundRect">
            <a:avLst/>
          </a:prstGeom>
          <a:solidFill>
            <a:srgbClr val="0D1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59" y="21945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EC9E0"/>
                </a:solidFill>
                <a:latin typeface="Calibri"/>
              </a:defRPr>
            </a:pPr>
            <a:r>
              <a:t>Fleet-Aware Routing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59" y="274320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200">
                <a:solidFill>
                  <a:srgbClr val="8CA3B4"/>
                </a:solidFill>
                <a:latin typeface="Calibri"/>
              </a:defRPr>
            </a:pPr>
            <a:r>
              <a:t>Each ship follows a distinct route with customizable dimensions</a:t>
            </a:r>
          </a:p>
          <a:p>
            <a:pPr>
              <a:spcAft>
                <a:spcPts val="480"/>
              </a:spcAft>
              <a:defRPr sz="1200">
                <a:solidFill>
                  <a:srgbClr val="8CA3B4"/>
                </a:solidFill>
                <a:latin typeface="Calibri"/>
              </a:defRPr>
            </a:pPr>
            <a:r>
              <a:t>Per-ship danger radius computed from vessel beam</a:t>
            </a:r>
          </a:p>
          <a:p>
            <a:pPr>
              <a:spcAft>
                <a:spcPts val="480"/>
              </a:spcAft>
              <a:defRPr sz="1200">
                <a:solidFill>
                  <a:srgbClr val="8CA3B4"/>
                </a:solidFill>
                <a:latin typeface="Calibri"/>
              </a:defRPr>
            </a:pPr>
            <a:r>
              <a:t>Automatic collision stopping with blast animation.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599" y="2011680"/>
            <a:ext cx="3474720" cy="4114800"/>
          </a:xfrm>
          <a:prstGeom prst="roundRect">
            <a:avLst/>
          </a:prstGeom>
          <a:solidFill>
            <a:srgbClr val="0D1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199" y="21945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EC9E0"/>
                </a:solidFill>
                <a:latin typeface="Calibri"/>
              </a:defRPr>
            </a:pPr>
            <a:r>
              <a:t>Live Weather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199" y="274320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200">
                <a:solidFill>
                  <a:srgbClr val="8CA3B4"/>
                </a:solidFill>
                <a:latin typeface="Calibri"/>
              </a:defRPr>
            </a:pPr>
            <a:r>
              <a:t>Open-Meteo API feeds real wind speed, direction, and gusts into the drift model</a:t>
            </a:r>
          </a:p>
          <a:p>
            <a:pPr>
              <a:spcAft>
                <a:spcPts val="480"/>
              </a:spcAft>
              <a:defRPr sz="1200">
                <a:solidFill>
                  <a:srgbClr val="8CA3B4"/>
                </a:solidFill>
                <a:latin typeface="Calibri"/>
              </a:defRPr>
            </a:pPr>
            <a:r>
              <a:t>Wind data adjusts bearing, scales drift velocity, and adds uncertainty.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28600"/>
            <a:ext cx="501666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822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C9E0"/>
                </a:solidFill>
                <a:latin typeface="Consolas"/>
              </a:defRPr>
            </a:pPr>
            <a:r>
              <a:t>INTERACTIVE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AF3F8"/>
                </a:solidFill>
                <a:latin typeface="Calibri"/>
              </a:defRPr>
            </a:pPr>
            <a:r>
              <a:t>Live Simulator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0698480" cy="4572000"/>
          </a:xfrm>
          <a:prstGeom prst="roundRect">
            <a:avLst/>
          </a:prstGeom>
          <a:solidFill>
            <a:srgbClr val="0D1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EC9E0"/>
                </a:solidFill>
                <a:latin typeface="Consolas"/>
              </a:defRPr>
            </a:pPr>
            <a:r>
              <a:t>▶  Open icesight-fleet-simulator.html  in your browser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CA3B4"/>
                </a:solidFill>
                <a:latin typeface="Calibri"/>
              </a:defRPr>
            </a:pPr>
            <a:r>
              <a:t>Features: Preset demos, timeline scrubbing, weather API,</a:t>
            </a:r>
            <a:br/>
            <a:r>
              <a:t>collision detection, per-ship sizes, screenshot export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28600"/>
            <a:ext cx="501666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822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C9E0"/>
                </a:solidFill>
                <a:latin typeface="Consolas"/>
              </a:defRPr>
            </a:pPr>
            <a:r>
              <a:t>SYNTHETIC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AF3F8"/>
                </a:solidFill>
                <a:latin typeface="Calibri"/>
              </a:defRPr>
            </a:pPr>
            <a:r>
              <a:t>300 Scenarios · 15,000 Trajectories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029200" cy="2011680"/>
          </a:xfrm>
          <a:prstGeom prst="roundRect">
            <a:avLst/>
          </a:prstGeom>
          <a:solidFill>
            <a:srgbClr val="0D1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57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EC9E0"/>
                </a:solidFill>
                <a:latin typeface="Calibri"/>
              </a:defRPr>
            </a:pPr>
            <a:r>
              <a:t>Dataset Composition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AF3F8"/>
                </a:solidFill>
                <a:latin typeface="Calibri"/>
              </a:defRPr>
            </a:pPr>
            <a:r>
              <a:t>Train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4688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C9E0"/>
                </a:solidFill>
                <a:latin typeface="Calibri"/>
              </a:defRPr>
            </a:pPr>
            <a:r>
              <a:t>210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468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CA3B4"/>
                </a:solidFill>
                <a:latin typeface="Calibri"/>
              </a:defRPr>
            </a:pPr>
            <a:r>
              <a:t>Model training &amp; calibration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8529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AF3F8"/>
                </a:solidFill>
                <a:latin typeface="Calibri"/>
              </a:defRPr>
            </a:pPr>
            <a:r>
              <a:t>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8529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C9E0"/>
                </a:solidFill>
                <a:latin typeface="Calibri"/>
              </a:defRPr>
            </a:pPr>
            <a:r>
              <a:t>45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529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CA3B4"/>
                </a:solidFill>
                <a:latin typeface="Calibri"/>
              </a:defRPr>
            </a:pPr>
            <a:r>
              <a:t>Hyperparameter tuning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23697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AF3F8"/>
                </a:solidFill>
                <a:latin typeface="Calibri"/>
              </a:defRPr>
            </a:pPr>
            <a:r>
              <a:t>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3236976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C9E0"/>
                </a:solidFill>
                <a:latin typeface="Calibri"/>
              </a:defRPr>
            </a:pPr>
            <a:r>
              <a:t>45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23697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CA3B4"/>
                </a:solidFill>
                <a:latin typeface="Calibri"/>
              </a:defRPr>
            </a:pPr>
            <a:r>
              <a:t>Final evaluation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114800"/>
            <a:ext cx="5029200" cy="2286000"/>
          </a:xfrm>
          <a:prstGeom prst="roundRect">
            <a:avLst/>
          </a:prstGeom>
          <a:solidFill>
            <a:srgbClr val="0D1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251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EC9E0"/>
                </a:solidFill>
                <a:latin typeface="Calibri"/>
              </a:defRPr>
            </a:pPr>
            <a:r>
              <a:t>Regime Distribution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6634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EEAD4"/>
                </a:solidFill>
                <a:latin typeface="Calibri"/>
              </a:defRPr>
            </a:pPr>
            <a:r>
              <a:t>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6634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AF3F8"/>
                </a:solidFill>
                <a:latin typeface="Calibri"/>
              </a:defRPr>
            </a:pPr>
            <a:r>
              <a:t>Calm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46634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EEAD4"/>
                </a:solidFill>
                <a:latin typeface="Calibri"/>
              </a:defRPr>
            </a:pPr>
            <a:r>
              <a:t>96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6634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CA3B4"/>
                </a:solidFill>
                <a:latin typeface="Calibri"/>
              </a:defRPr>
            </a:pPr>
            <a:r>
              <a:t>8.8 km/day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6634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EEAD4"/>
                </a:solidFill>
                <a:latin typeface="Calibri"/>
              </a:defRPr>
            </a:pPr>
            <a:r>
              <a:t>44%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0749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2B347"/>
                </a:solidFill>
                <a:latin typeface="Calibri"/>
              </a:defRPr>
            </a:pPr>
            <a:r>
              <a:t>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0749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AF3F8"/>
                </a:solidFill>
                <a:latin typeface="Calibri"/>
              </a:defRPr>
            </a:pPr>
            <a:r>
              <a:t>Moderate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50749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2B347"/>
                </a:solidFill>
                <a:latin typeface="Calibri"/>
              </a:defRPr>
            </a:pPr>
            <a:r>
              <a:t>115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50749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CA3B4"/>
                </a:solidFill>
                <a:latin typeface="Calibri"/>
              </a:defRPr>
            </a:pPr>
            <a:r>
              <a:t>15.95 km/day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50749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2B347"/>
                </a:solidFill>
                <a:latin typeface="Calibri"/>
              </a:defRPr>
            </a:pPr>
            <a:r>
              <a:t>65%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48640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6B4A"/>
                </a:solidFill>
                <a:latin typeface="Calibri"/>
              </a:defRPr>
            </a:pPr>
            <a:r>
              <a:t>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54864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AF3F8"/>
                </a:solidFill>
                <a:latin typeface="Calibri"/>
              </a:defRPr>
            </a:pPr>
            <a:r>
              <a:t>Storm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0320" y="54864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6B4A"/>
                </a:solidFill>
                <a:latin typeface="Calibri"/>
              </a:defRPr>
            </a:pPr>
            <a:r>
              <a:t>89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54864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CA3B4"/>
                </a:solidFill>
                <a:latin typeface="Calibri"/>
              </a:defRPr>
            </a:pPr>
            <a:r>
              <a:t>25.3 km/day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54864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4A"/>
                </a:solidFill>
                <a:latin typeface="Calibri"/>
              </a:defRPr>
            </a:pPr>
            <a:r>
              <a:t>60%</a:t>
            </a:r>
          </a:p>
        </p:txBody>
      </p:sp>
      <p:pic>
        <p:nvPicPr>
          <p:cNvPr id="33" name="Picture 32" descr="risk_lev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920240"/>
            <a:ext cx="5303520" cy="2286000"/>
          </a:xfrm>
          <a:prstGeom prst="rect">
            <a:avLst/>
          </a:prstGeom>
        </p:spPr>
      </p:pic>
      <p:pic>
        <p:nvPicPr>
          <p:cNvPr id="34" name="Picture 33" descr="incur_pro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4389120"/>
            <a:ext cx="5303520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28600"/>
            <a:ext cx="501666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822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C9E0"/>
                </a:solidFill>
                <a:latin typeface="Consolas"/>
              </a:defRPr>
            </a:pPr>
            <a:r>
              <a:t>DRIFT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AF3F8"/>
                </a:solidFill>
                <a:latin typeface="Calibri"/>
              </a:defRPr>
            </a:pPr>
            <a:r>
              <a:t>Iceberg Trajectory Characteristics</a:t>
            </a:r>
          </a:p>
        </p:txBody>
      </p:sp>
      <p:pic>
        <p:nvPicPr>
          <p:cNvPr id="5" name="Picture 4" descr="bear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920240"/>
            <a:ext cx="5303520" cy="2286000"/>
          </a:xfrm>
          <a:prstGeom prst="rect">
            <a:avLst/>
          </a:prstGeom>
        </p:spPr>
      </p:pic>
      <p:pic>
        <p:nvPicPr>
          <p:cNvPr id="6" name="Picture 5" descr="speed_regi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389120"/>
            <a:ext cx="5303520" cy="2286000"/>
          </a:xfrm>
          <a:prstGeom prst="rect">
            <a:avLst/>
          </a:prstGeom>
        </p:spPr>
      </p:pic>
      <p:pic>
        <p:nvPicPr>
          <p:cNvPr id="7" name="Picture 6" descr="lane_di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1920240"/>
            <a:ext cx="5303520" cy="2286000"/>
          </a:xfrm>
          <a:prstGeom prst="rect">
            <a:avLst/>
          </a:prstGeom>
        </p:spPr>
      </p:pic>
      <p:pic>
        <p:nvPicPr>
          <p:cNvPr id="8" name="Picture 7" descr="regime_pi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4389120"/>
            <a:ext cx="530352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28600"/>
            <a:ext cx="501666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822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C9E0"/>
                </a:solidFill>
                <a:latin typeface="Consolas"/>
              </a:defRPr>
            </a:pPr>
            <a:r>
              <a:t>TEMPORAL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AF3F8"/>
                </a:solidFill>
                <a:latin typeface="Calibri"/>
              </a:defRPr>
            </a:pPr>
            <a:r>
              <a:t>Incursion Probability Evolves Over Time</a:t>
            </a:r>
          </a:p>
        </p:txBody>
      </p:sp>
      <p:pic>
        <p:nvPicPr>
          <p:cNvPr id="5" name="Picture 4" descr="day_ri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920240"/>
            <a:ext cx="6400800" cy="41148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98079" y="1920240"/>
            <a:ext cx="4114800" cy="2011680"/>
          </a:xfrm>
          <a:prstGeom prst="roundRect">
            <a:avLst/>
          </a:prstGeom>
          <a:solidFill>
            <a:srgbClr val="0D1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21031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EC9E0"/>
                </a:solidFill>
                <a:latin typeface="Calibri"/>
              </a:defRPr>
            </a:pPr>
            <a:r>
              <a:t>Key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56032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200">
                <a:solidFill>
                  <a:srgbClr val="8CA3B4"/>
                </a:solidFill>
                <a:latin typeface="Calibri"/>
              </a:defRPr>
            </a:pPr>
            <a:r>
              <a:t>Risk follows a bell-shaped temporal pattern —</a:t>
            </a:r>
          </a:p>
          <a:p>
            <a:pPr>
              <a:spcAft>
                <a:spcPts val="480"/>
              </a:spcAft>
              <a:defRPr sz="1200">
                <a:solidFill>
                  <a:srgbClr val="8CA3B4"/>
                </a:solidFill>
                <a:latin typeface="Calibri"/>
              </a:defRPr>
            </a:pPr>
            <a:r>
              <a:t>starting at zero, peaking around days 2–6,</a:t>
            </a:r>
          </a:p>
          <a:p>
            <a:pPr>
              <a:spcAft>
                <a:spcPts val="480"/>
              </a:spcAft>
              <a:defRPr sz="1200">
                <a:solidFill>
                  <a:srgbClr val="8CA3B4"/>
                </a:solidFill>
                <a:latin typeface="Calibri"/>
              </a:defRPr>
            </a:pPr>
            <a:r>
              <a:t>then declining as icebergs drift past.</a:t>
            </a:r>
          </a:p>
          <a:p>
            <a:pPr>
              <a:spcAft>
                <a:spcPts val="480"/>
              </a:spcAft>
              <a:defRPr sz="1200">
                <a:solidFill>
                  <a:srgbClr val="8CA3B4"/>
                </a:solidFill>
                <a:latin typeface="Calibri"/>
              </a:defRPr>
            </a:pPr>
          </a:p>
          <a:p>
            <a:pPr>
              <a:spcAft>
                <a:spcPts val="480"/>
              </a:spcAft>
              <a:defRPr sz="1200">
                <a:solidFill>
                  <a:srgbClr val="8CA3B4"/>
                </a:solidFill>
                <a:latin typeface="Calibri"/>
              </a:defRPr>
            </a:pPr>
            <a:r>
              <a:t>53% of high-risk scenarios peak before day 5,</a:t>
            </a:r>
          </a:p>
          <a:p>
            <a:pPr>
              <a:spcAft>
                <a:spcPts val="480"/>
              </a:spcAft>
              <a:defRPr sz="1200">
                <a:solidFill>
                  <a:srgbClr val="8CA3B4"/>
                </a:solidFill>
                <a:latin typeface="Calibri"/>
              </a:defRPr>
            </a:pPr>
            <a:r>
              <a:t>meaning early detection is critical.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4206240"/>
            <a:ext cx="4114800" cy="1920240"/>
          </a:xfrm>
          <a:prstGeom prst="roundRect">
            <a:avLst/>
          </a:prstGeom>
          <a:solidFill>
            <a:srgbClr val="0D1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4343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EC9E0"/>
                </a:solidFill>
                <a:latin typeface="Calibri"/>
              </a:defRPr>
            </a:pPr>
            <a:r>
              <a:t>Vessel Dimensions</a:t>
            </a:r>
          </a:p>
        </p:txBody>
      </p:sp>
      <p:pic>
        <p:nvPicPr>
          <p:cNvPr id="11" name="Picture 10" descr="vessel_dim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4663440"/>
            <a:ext cx="393192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28600"/>
            <a:ext cx="501666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822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C9E0"/>
                </a:solidFill>
                <a:latin typeface="Consolas"/>
              </a:defRPr>
            </a:pPr>
            <a:r>
              <a:t>QUALITY ASSURANCE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AF3F8"/>
                </a:solidFill>
                <a:latin typeface="Calibri"/>
              </a:defRPr>
            </a:pPr>
            <a:r>
              <a:t>Data Validation &amp; Distribution Analysis</a:t>
            </a:r>
          </a:p>
        </p:txBody>
      </p:sp>
      <p:pic>
        <p:nvPicPr>
          <p:cNvPr id="5" name="Picture 4" descr="qa_pl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920240"/>
            <a:ext cx="1069848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28600"/>
            <a:ext cx="501666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822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C9E0"/>
                </a:solidFill>
                <a:latin typeface="Consolas"/>
              </a:defRPr>
            </a:pPr>
            <a:r>
              <a:t>RESULTS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AF3F8"/>
                </a:solidFill>
                <a:latin typeface="Calibri"/>
              </a:defRPr>
            </a:pPr>
            <a:r>
              <a:t>Key Metrics from 300 Scenarios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474720" cy="1371600"/>
          </a:xfrm>
          <a:prstGeom prst="roundRect">
            <a:avLst/>
          </a:prstGeom>
          <a:solidFill>
            <a:srgbClr val="0D1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6B4A"/>
                </a:solidFill>
                <a:latin typeface="Calibri"/>
              </a:defRPr>
            </a:pPr>
            <a:r>
              <a:t>56%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14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A3B4"/>
                </a:solidFill>
                <a:latin typeface="Calibri"/>
              </a:defRPr>
            </a:pPr>
            <a:r>
              <a:t>High-Risk Scenarios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920240"/>
            <a:ext cx="3474720" cy="1371600"/>
          </a:xfrm>
          <a:prstGeom prst="roundRect">
            <a:avLst/>
          </a:prstGeom>
          <a:solidFill>
            <a:srgbClr val="0D1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79" y="20116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2B347"/>
                </a:solidFill>
                <a:latin typeface="Calibri"/>
              </a:defRPr>
            </a:pPr>
            <a:r>
              <a:t>Day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79" y="2514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A3B4"/>
                </a:solidFill>
                <a:latin typeface="Calibri"/>
              </a:defRPr>
            </a:pPr>
            <a:r>
              <a:t>Median Peak Risk Day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599" y="1920240"/>
            <a:ext cx="3474720" cy="1371600"/>
          </a:xfrm>
          <a:prstGeom prst="roundRect">
            <a:avLst/>
          </a:prstGeom>
          <a:solidFill>
            <a:srgbClr val="0D1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19" y="20116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5EEAD4"/>
                </a:solidFill>
                <a:latin typeface="Calibri"/>
              </a:defRPr>
            </a:pPr>
            <a:r>
              <a:t>15 km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19" y="2514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A3B4"/>
                </a:solidFill>
                <a:latin typeface="Calibri"/>
              </a:defRPr>
            </a:pPr>
            <a:r>
              <a:t>Mean Closest Lane Dist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566160"/>
            <a:ext cx="5303520" cy="2926080"/>
          </a:xfrm>
          <a:prstGeom prst="roundRect">
            <a:avLst/>
          </a:prstGeom>
          <a:solidFill>
            <a:srgbClr val="0D1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703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EC9E0"/>
                </a:solidFill>
                <a:latin typeface="Calibri"/>
              </a:defRPr>
            </a:pPr>
            <a:r>
              <a:t>Feature Importance for Risk Prediction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1148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AF3F8"/>
                </a:solidFill>
                <a:latin typeface="Calibri"/>
              </a:defRPr>
            </a:pPr>
            <a:r>
              <a:t>Closest lane distance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4114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4A"/>
                </a:solidFill>
                <a:latin typeface="Calibri"/>
              </a:defRPr>
            </a:pPr>
            <a:r>
              <a:t>-0.82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41148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A3B4"/>
                </a:solidFill>
                <a:latin typeface="Calibri"/>
              </a:defRPr>
            </a:pPr>
            <a:r>
              <a:t>Strongest predictor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4988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AF3F8"/>
                </a:solidFill>
                <a:latin typeface="Calibri"/>
              </a:defRPr>
            </a:pPr>
            <a:r>
              <a:t>Wind uncertainty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449884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2B347"/>
                </a:solidFill>
                <a:latin typeface="Calibri"/>
              </a:defRPr>
            </a:pPr>
            <a:r>
              <a:t>+0.41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44988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A3B4"/>
                </a:solidFill>
                <a:latin typeface="Calibri"/>
              </a:defRPr>
            </a:pPr>
            <a:r>
              <a:t>Higher uncertainty → more risk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88289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AF3F8"/>
                </a:solidFill>
                <a:latin typeface="Calibri"/>
              </a:defRPr>
            </a:pPr>
            <a:r>
              <a:t>Drift speed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4882896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2B347"/>
                </a:solidFill>
                <a:latin typeface="Calibri"/>
              </a:defRPr>
            </a:pPr>
            <a:r>
              <a:t>+0.38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488289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A3B4"/>
                </a:solidFill>
                <a:latin typeface="Calibri"/>
              </a:defRPr>
            </a:pPr>
            <a:r>
              <a:t>Faster drift = faster approach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26694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AF3F8"/>
                </a:solidFill>
                <a:latin typeface="Calibri"/>
              </a:defRPr>
            </a:pPr>
            <a:r>
              <a:t>Ship length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5266944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EEAD4"/>
                </a:solidFill>
                <a:latin typeface="Calibri"/>
              </a:defRPr>
            </a:pPr>
            <a:r>
              <a:t>+0.12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526694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A3B4"/>
                </a:solidFill>
                <a:latin typeface="Calibri"/>
              </a:defRPr>
            </a:pPr>
            <a:r>
              <a:t>Larger ships = larger targets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65099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AF3F8"/>
                </a:solidFill>
                <a:latin typeface="Calibri"/>
              </a:defRPr>
            </a:pPr>
            <a:r>
              <a:t>Forecast horizon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0" y="565099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EEAD4"/>
                </a:solidFill>
                <a:latin typeface="Calibri"/>
              </a:defRPr>
            </a:pPr>
            <a:r>
              <a:t>+0.08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565099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A3B4"/>
                </a:solidFill>
                <a:latin typeface="Calibri"/>
              </a:defRPr>
            </a:pPr>
            <a:r>
              <a:t>Minimal direct effect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3566160"/>
            <a:ext cx="5029200" cy="2926080"/>
          </a:xfrm>
          <a:prstGeom prst="roundRect">
            <a:avLst/>
          </a:prstGeom>
          <a:solidFill>
            <a:srgbClr val="0D1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0" y="3703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EC9E0"/>
                </a:solidFill>
                <a:latin typeface="Calibri"/>
              </a:defRPr>
            </a:pPr>
            <a:r>
              <a:t>Model Performance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41148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EC9E0"/>
                </a:solidFill>
                <a:latin typeface="Calibri"/>
              </a:defRPr>
            </a:pPr>
            <a:r>
              <a:t>0.94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4617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A3B4"/>
                </a:solidFill>
                <a:latin typeface="Calibri"/>
              </a:defRPr>
            </a:pPr>
            <a:r>
              <a:t>AUC-ROC on test set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47548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5EEAD4"/>
                </a:solidFill>
                <a:latin typeface="Calibri"/>
              </a:defRPr>
            </a:pPr>
            <a:r>
              <a:t>91%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5257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A3B4"/>
                </a:solidFill>
                <a:latin typeface="Calibri"/>
              </a:defRPr>
            </a:pPr>
            <a:r>
              <a:t>Precision for high-risk detection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53949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2B347"/>
                </a:solidFill>
                <a:latin typeface="Calibri"/>
              </a:defRPr>
            </a:pPr>
            <a:r>
              <a:t>87%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5897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A3B4"/>
                </a:solidFill>
                <a:latin typeface="Calibri"/>
              </a:defRPr>
            </a:pPr>
            <a:r>
              <a:t>Recall — catches most dangerous scenarios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9436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8B7FE8"/>
                </a:solidFill>
                <a:latin typeface="Calibri"/>
              </a:defRPr>
            </a:pPr>
            <a:r>
              <a:t>0.3s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75120" y="6446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A3B4"/>
                </a:solidFill>
                <a:latin typeface="Calibri"/>
              </a:defRPr>
            </a:pPr>
            <a:r>
              <a:t>Inference time per scenario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28600"/>
            <a:ext cx="501666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822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C9E0"/>
                </a:solidFill>
                <a:latin typeface="Consolas"/>
              </a:defRPr>
            </a:pPr>
            <a: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AF3F8"/>
                </a:solidFill>
                <a:latin typeface="Calibri"/>
              </a:defRPr>
            </a:pPr>
            <a:r>
              <a:t>System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474720" cy="4114800"/>
          </a:xfrm>
          <a:prstGeom prst="roundRect">
            <a:avLst/>
          </a:prstGeom>
          <a:solidFill>
            <a:srgbClr val="0D1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3474720" cy="45720"/>
          </a:xfrm>
          <a:prstGeom prst="rect">
            <a:avLst/>
          </a:prstGeom>
          <a:solidFill>
            <a:srgbClr val="6EC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EC9E0"/>
                </a:solidFill>
                <a:latin typeface="Calibri"/>
              </a:defRPr>
            </a:pPr>
            <a:r>
              <a:t>1. Data Generation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3464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200">
                <a:solidFill>
                  <a:srgbClr val="8CA3B4"/>
                </a:solidFill>
                <a:latin typeface="Calibri"/>
              </a:defRPr>
            </a:pPr>
            <a:r>
              <a:t>•  Monte Carlo drift simulation</a:t>
            </a:r>
          </a:p>
          <a:p>
            <a:pPr>
              <a:spcAft>
                <a:spcPts val="480"/>
              </a:spcAft>
              <a:defRPr sz="1200">
                <a:solidFill>
                  <a:srgbClr val="8CA3B4"/>
                </a:solidFill>
                <a:latin typeface="Calibri"/>
              </a:defRPr>
            </a:pPr>
            <a:r>
              <a:t>•  3 ocean regimes (calm/mod/storm)</a:t>
            </a:r>
          </a:p>
          <a:p>
            <a:pPr>
              <a:spcAft>
                <a:spcPts val="480"/>
              </a:spcAft>
              <a:defRPr sz="1200">
                <a:solidFill>
                  <a:srgbClr val="8CA3B4"/>
                </a:solidFill>
                <a:latin typeface="Calibri"/>
              </a:defRPr>
            </a:pPr>
            <a:r>
              <a:t>•  Variable wind &amp; current uncertainty</a:t>
            </a:r>
          </a:p>
          <a:p>
            <a:pPr>
              <a:spcAft>
                <a:spcPts val="480"/>
              </a:spcAft>
              <a:defRPr sz="1200">
                <a:solidFill>
                  <a:srgbClr val="8CA3B4"/>
                </a:solidFill>
                <a:latin typeface="Calibri"/>
              </a:defRPr>
            </a:pPr>
            <a:r>
              <a:t>•  50 runs × 300 scenarios = 15K tracks</a:t>
            </a:r>
          </a:p>
          <a:p>
            <a:pPr>
              <a:spcAft>
                <a:spcPts val="480"/>
              </a:spcAft>
              <a:defRPr sz="1200">
                <a:solidFill>
                  <a:srgbClr val="8CA3B4"/>
                </a:solidFill>
                <a:latin typeface="Calibri"/>
              </a:defRPr>
            </a:pPr>
            <a:r>
              <a:t>•  Per-day incursion probability scoring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2011680"/>
            <a:ext cx="3474720" cy="4114800"/>
          </a:xfrm>
          <a:prstGeom prst="roundRect">
            <a:avLst/>
          </a:prstGeom>
          <a:solidFill>
            <a:srgbClr val="0D1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59" y="2011680"/>
            <a:ext cx="3474720" cy="45720"/>
          </a:xfrm>
          <a:prstGeom prst="rect">
            <a:avLst/>
          </a:prstGeom>
          <a:solidFill>
            <a:srgbClr val="8B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2286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7FE8"/>
                </a:solidFill>
                <a:latin typeface="Calibri"/>
              </a:defRPr>
            </a:pPr>
            <a:r>
              <a:t>2. Risk Prediction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83464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200">
                <a:solidFill>
                  <a:srgbClr val="8CA3B4"/>
                </a:solidFill>
                <a:latin typeface="Calibri"/>
              </a:defRPr>
            </a:pPr>
            <a:r>
              <a:t>•  Feature engineering from trajectories</a:t>
            </a:r>
          </a:p>
          <a:p>
            <a:pPr>
              <a:spcAft>
                <a:spcPts val="480"/>
              </a:spcAft>
              <a:defRPr sz="1200">
                <a:solidFill>
                  <a:srgbClr val="8CA3B4"/>
                </a:solidFill>
                <a:latin typeface="Calibri"/>
              </a:defRPr>
            </a:pPr>
            <a:r>
              <a:t>•  Lane proximity &amp; confidence radius</a:t>
            </a:r>
          </a:p>
          <a:p>
            <a:pPr>
              <a:spcAft>
                <a:spcPts val="480"/>
              </a:spcAft>
              <a:defRPr sz="1200">
                <a:solidFill>
                  <a:srgbClr val="8CA3B4"/>
                </a:solidFill>
                <a:latin typeface="Calibri"/>
              </a:defRPr>
            </a:pPr>
            <a:r>
              <a:t>•  Ensemble classifier (RF + XGBoost)</a:t>
            </a:r>
          </a:p>
          <a:p>
            <a:pPr>
              <a:spcAft>
                <a:spcPts val="480"/>
              </a:spcAft>
              <a:defRPr sz="1200">
                <a:solidFill>
                  <a:srgbClr val="8CA3B4"/>
                </a:solidFill>
                <a:latin typeface="Calibri"/>
              </a:defRPr>
            </a:pPr>
            <a:r>
              <a:t>•  Temporal risk curve forecasting</a:t>
            </a:r>
          </a:p>
          <a:p>
            <a:pPr>
              <a:spcAft>
                <a:spcPts val="480"/>
              </a:spcAft>
              <a:defRPr sz="1200">
                <a:solidFill>
                  <a:srgbClr val="8CA3B4"/>
                </a:solidFill>
                <a:latin typeface="Calibri"/>
              </a:defRPr>
            </a:pPr>
            <a:r>
              <a:t>•  Ship-specific danger radius calculation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599" y="2011680"/>
            <a:ext cx="3474720" cy="4114800"/>
          </a:xfrm>
          <a:prstGeom prst="roundRect">
            <a:avLst/>
          </a:prstGeom>
          <a:solidFill>
            <a:srgbClr val="0D1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599" y="2011680"/>
            <a:ext cx="3474720" cy="45720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19" y="2286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EEAD4"/>
                </a:solidFill>
                <a:latin typeface="Calibri"/>
              </a:defRPr>
            </a:pPr>
            <a:r>
              <a:t>3. Decision Support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19" y="283464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200">
                <a:solidFill>
                  <a:srgbClr val="8CA3B4"/>
                </a:solidFill>
                <a:latin typeface="Calibri"/>
              </a:defRPr>
            </a:pPr>
            <a:r>
              <a:t>•  Real-time fleet visualization</a:t>
            </a:r>
          </a:p>
          <a:p>
            <a:pPr>
              <a:spcAft>
                <a:spcPts val="480"/>
              </a:spcAft>
              <a:defRPr sz="1200">
                <a:solidFill>
                  <a:srgbClr val="8CA3B4"/>
                </a:solidFill>
                <a:latin typeface="Calibri"/>
              </a:defRPr>
            </a:pPr>
            <a:r>
              <a:t>•  Live Open-Meteo weather feed</a:t>
            </a:r>
          </a:p>
          <a:p>
            <a:pPr>
              <a:spcAft>
                <a:spcPts val="480"/>
              </a:spcAft>
              <a:defRPr sz="1200">
                <a:solidFill>
                  <a:srgbClr val="8CA3B4"/>
                </a:solidFill>
                <a:latin typeface="Calibri"/>
              </a:defRPr>
            </a:pPr>
            <a:r>
              <a:t>•  Automatic collision stopping</a:t>
            </a:r>
          </a:p>
          <a:p>
            <a:pPr>
              <a:spcAft>
                <a:spcPts val="480"/>
              </a:spcAft>
              <a:defRPr sz="1200">
                <a:solidFill>
                  <a:srgbClr val="8CA3B4"/>
                </a:solidFill>
                <a:latin typeface="Calibri"/>
              </a:defRPr>
            </a:pPr>
            <a:r>
              <a:t>•  Timeline scrubbing &amp; replay</a:t>
            </a:r>
          </a:p>
          <a:p>
            <a:pPr>
              <a:spcAft>
                <a:spcPts val="480"/>
              </a:spcAft>
              <a:defRPr sz="1200">
                <a:solidFill>
                  <a:srgbClr val="8CA3B4"/>
                </a:solidFill>
                <a:latin typeface="Calibri"/>
              </a:defRPr>
            </a:pPr>
            <a:r>
              <a:t>•  Preset scenario demo mode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28600"/>
            <a:ext cx="501666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822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C9E0"/>
                </a:solidFill>
                <a:latin typeface="Consolas"/>
              </a:defRPr>
            </a:pPr>
            <a:r>
              <a:t>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AF3F8"/>
                </a:solidFill>
                <a:latin typeface="Calibri"/>
              </a:defRPr>
            </a:pPr>
            <a:r>
              <a:t>Future Directions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303520" cy="2926080"/>
          </a:xfrm>
          <a:prstGeom prst="roundRect">
            <a:avLst/>
          </a:prstGeom>
          <a:solidFill>
            <a:srgbClr val="0D1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EC9E0"/>
                </a:solidFill>
                <a:latin typeface="Calibri"/>
              </a:defRPr>
            </a:pPr>
            <a:r>
              <a:t>Near-Term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>
                <a:solidFill>
                  <a:srgbClr val="8CA3B4"/>
                </a:solidFill>
                <a:latin typeface="Calibri"/>
              </a:defRPr>
            </a:pPr>
            <a:r>
              <a:t>•  Integrate real AIS ship tracking data</a:t>
            </a:r>
          </a:p>
          <a:p>
            <a:pPr>
              <a:spcAft>
                <a:spcPts val="520"/>
              </a:spcAft>
              <a:defRPr sz="1300">
                <a:solidFill>
                  <a:srgbClr val="8CA3B4"/>
                </a:solidFill>
                <a:latin typeface="Calibri"/>
              </a:defRPr>
            </a:pPr>
            <a:r>
              <a:t>•  Satellite iceberg detection (SAR imagery)</a:t>
            </a:r>
          </a:p>
          <a:p>
            <a:pPr>
              <a:spcAft>
                <a:spcPts val="520"/>
              </a:spcAft>
              <a:defRPr sz="1300">
                <a:solidFill>
                  <a:srgbClr val="8CA3B4"/>
                </a:solidFill>
                <a:latin typeface="Calibri"/>
              </a:defRPr>
            </a:pPr>
            <a:r>
              <a:t>•  Multi-objective route optimization</a:t>
            </a:r>
          </a:p>
          <a:p>
            <a:pPr>
              <a:spcAft>
                <a:spcPts val="520"/>
              </a:spcAft>
              <a:defRPr sz="1300">
                <a:solidFill>
                  <a:srgbClr val="8CA3B4"/>
                </a:solidFill>
                <a:latin typeface="Calibri"/>
              </a:defRPr>
            </a:pPr>
            <a:r>
              <a:t>•  WebGL-accelerated 3D visualization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011680"/>
            <a:ext cx="5303520" cy="2926080"/>
          </a:xfrm>
          <a:prstGeom prst="roundRect">
            <a:avLst/>
          </a:prstGeom>
          <a:solidFill>
            <a:srgbClr val="0D1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EC9E0"/>
                </a:solidFill>
                <a:latin typeface="Calibri"/>
              </a:defRPr>
            </a:pPr>
            <a:r>
              <a:t>Long-Term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74320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>
                <a:solidFill>
                  <a:srgbClr val="8CA3B4"/>
                </a:solidFill>
                <a:latin typeface="Calibri"/>
              </a:defRPr>
            </a:pPr>
            <a:r>
              <a:t>•  Physics-informed neural network drift</a:t>
            </a:r>
          </a:p>
          <a:p>
            <a:pPr>
              <a:spcAft>
                <a:spcPts val="520"/>
              </a:spcAft>
              <a:defRPr sz="1300">
                <a:solidFill>
                  <a:srgbClr val="8CA3B4"/>
                </a:solidFill>
                <a:latin typeface="Calibri"/>
              </a:defRPr>
            </a:pPr>
            <a:r>
              <a:t>•  Digital twin of Antarctic shipping lanes</a:t>
            </a:r>
          </a:p>
          <a:p>
            <a:pPr>
              <a:spcAft>
                <a:spcPts val="520"/>
              </a:spcAft>
              <a:defRPr sz="1300">
                <a:solidFill>
                  <a:srgbClr val="8CA3B4"/>
                </a:solidFill>
                <a:latin typeface="Calibri"/>
              </a:defRPr>
            </a:pPr>
            <a:r>
              <a:t>•  Autonomous rerouting recommendations</a:t>
            </a:r>
          </a:p>
          <a:p>
            <a:pPr>
              <a:spcAft>
                <a:spcPts val="520"/>
              </a:spcAft>
              <a:defRPr sz="1300">
                <a:solidFill>
                  <a:srgbClr val="8CA3B4"/>
                </a:solidFill>
                <a:latin typeface="Calibri"/>
              </a:defRPr>
            </a:pPr>
            <a:r>
              <a:t>•  Integration with IMO compliance reporting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303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AF3F8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CA3B4"/>
                </a:solidFill>
                <a:latin typeface="Calibri"/>
              </a:defRPr>
            </a:pPr>
            <a:r>
              <a:t>ICE·SIGHT FLEET — AI-Enabled Antarctic Navigation Decision Support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